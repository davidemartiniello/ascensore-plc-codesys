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13" dt="2026-09-17T17:32:59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8686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Progetto Ascensore PLC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04672" y="148132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D9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Simulazione didattica di un ascensore a 3 piani in CODESYS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804672" y="1993392"/>
            <a:ext cx="1920240" cy="0"/>
          </a:xfrm>
          <a:prstGeom prst="line">
            <a:avLst/>
          </a:prstGeom>
          <a:noFill/>
          <a:ln w="38100">
            <a:solidFill>
              <a:srgbClr val="7CB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 PLC · Structured Text · IEC 61131-3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761488"/>
            <a:ext cx="51206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EE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progetto mostra la gestione di ingressi, stato interno, uscite, timer, porte e interblocchi di sicurezza simulati.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583680" y="960120"/>
            <a:ext cx="4846320" cy="4279392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 w="13970">
            <a:solidFill>
              <a:srgbClr val="BFD7F5"/>
            </a:solidFill>
            <a:prstDash val="solid"/>
          </a:ln>
        </p:spPr>
      </p:sp>
      <p:pic>
        <p:nvPicPr>
          <p:cNvPr id="10" name="Image 0" descr="/mnt/data/ppt_unzip/ppt/media/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3630" y="1033272"/>
            <a:ext cx="4166419" cy="41330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83680" y="531266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HMI finale del progetto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2960" y="61264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9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Davide Martiniello · Matricola 177680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28600"/>
            <a:ext cx="11963095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D6E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47104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Progetto Ascensore PLC · Informatica Industriale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972800" y="654710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548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Obiettivo del lavoro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102412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Funzioni richieste e impostazione generale della simulazione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58368" y="1435608"/>
            <a:ext cx="1828800" cy="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874520"/>
            <a:ext cx="4983480" cy="3429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gestire la selezione dei piani P1, P2 e P3;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memorizzare le richieste dopo il rilascio del pulsante;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simulare il movimento con un tempo di percorrenza tra piani;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aprire le porte all’arrivo e richiuderle prima della ripartenza;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bloccare il movimento in presenza di condizioni non sicure.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492240" y="3337560"/>
            <a:ext cx="86868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95360" y="3337560"/>
            <a:ext cx="86868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779008" y="2852928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24728" y="2926080"/>
            <a:ext cx="13258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Ingressi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HMI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60920" y="2852928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2926080"/>
            <a:ext cx="13258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Stato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interno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464040" y="2852928"/>
            <a:ext cx="1600200" cy="96012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2926080"/>
            <a:ext cx="15087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Uscite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833872" y="42976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ingresso viene letto dal ciclo PLC, tradotto in stato interno e utilizzato per comandare motore, porte, LED e allarmi.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28600"/>
            <a:ext cx="11963095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D6E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47104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Progetto Ascensore PLC · Informatica Industriale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972800" y="654710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548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Requisiti seguiti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102412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Separazione fra movimento, porte, comandi e sicurezza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58368" y="1435608"/>
            <a:ext cx="1828800" cy="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1874520"/>
            <a:ext cx="4892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1984248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05256" y="2331720"/>
            <a:ext cx="45811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cabina sale o scende verso il piano scelto. Il tempo di viaggio è simulato con un timer TON.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09360" y="1874520"/>
            <a:ext cx="4892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1984248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64808" y="2331720"/>
            <a:ext cx="45811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porte si aprono all’arrivo. La ripartenza è consentita solo con porta chiusa e confermata dal sensore.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49808" y="3977640"/>
            <a:ext cx="4892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4087368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Comandi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05256" y="4434840"/>
            <a:ext cx="45811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pulsanti sono convertiti in eventi tramite R_TRIG e impostano richieste memorizzate.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309360" y="3977640"/>
            <a:ext cx="4892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4087368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Sicurezza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464808" y="4434840"/>
            <a:ext cx="45811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Emergenza, sovraccarico e sensore porta confluiscono in un blocco generale delle uscite motore.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28600"/>
            <a:ext cx="11963095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D6E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47104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Progetto Ascensore PLC · Informatica Industriale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972800" y="654710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548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Organizzazione del progetto CODESYS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102412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Componenti principali e ruolo del ciclo PLC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58368" y="1435608"/>
            <a:ext cx="1828800" cy="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3063240"/>
            <a:ext cx="105156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46320" y="3063240"/>
            <a:ext cx="105156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200" y="3063240"/>
            <a:ext cx="105156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4400" y="2542032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615184"/>
            <a:ext cx="16459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HMI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3108960" y="2542032"/>
            <a:ext cx="2057400" cy="1051560"/>
          </a:xfrm>
          <a:prstGeom prst="roundRect">
            <a:avLst>
              <a:gd name="adj" fmla="val 6087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2615184"/>
            <a:ext cx="19659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Ingressi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PB, sensori, allarmi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623560" y="2542032"/>
            <a:ext cx="2057400" cy="1051560"/>
          </a:xfrm>
          <a:prstGeom prst="roundRect">
            <a:avLst>
              <a:gd name="adj" fmla="val 6087"/>
            </a:avLst>
          </a:prstGeom>
          <a:solidFill>
            <a:srgbClr val="D6E9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2615184"/>
            <a:ext cx="19659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PLC_PRG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 principale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138160" y="2542032"/>
            <a:ext cx="2148840" cy="1051560"/>
          </a:xfrm>
          <a:prstGeom prst="roundRect">
            <a:avLst>
              <a:gd name="adj" fmla="val 6087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2615184"/>
            <a:ext cx="20574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Uscite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motore, porte, LED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60120" y="4297680"/>
            <a:ext cx="960120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MainTask esegue ciclicamente PLC_PRG.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ogni scansione sono letti ingressi e sensori.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stato della macchina determina movimento e porte.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uscite della simulazione sono aggiornate a fine ciclo.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28600"/>
            <a:ext cx="11963095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D6E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47104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Progetto Ascensore PLC · Informatica Industriale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972800" y="654710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548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Scelta del linguaggio Structured Text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102412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26070"/>
                </a:solidFill>
                <a:latin typeface="Arial"/>
                <a:ea typeface="Arial" pitchFamily="34" charset="-122"/>
                <a:cs typeface="Arial"/>
              </a:rPr>
              <a:t>La </a:t>
            </a:r>
            <a:r>
              <a:rPr lang="en-US" sz="1550" dirty="0" err="1">
                <a:solidFill>
                  <a:srgbClr val="526070"/>
                </a:solidFill>
                <a:latin typeface="Arial"/>
                <a:ea typeface="Arial" pitchFamily="34" charset="-122"/>
                <a:cs typeface="Arial"/>
              </a:rPr>
              <a:t>logica</a:t>
            </a:r>
            <a:r>
              <a:rPr lang="en-US" sz="1550" dirty="0">
                <a:solidFill>
                  <a:srgbClr val="526070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550" dirty="0" err="1">
                <a:solidFill>
                  <a:srgbClr val="526070"/>
                </a:solidFill>
                <a:latin typeface="Arial"/>
                <a:ea typeface="Arial" pitchFamily="34" charset="-122"/>
                <a:cs typeface="Arial"/>
              </a:rPr>
              <a:t>sequenziale</a:t>
            </a:r>
            <a:r>
              <a:rPr lang="en-US" sz="1550" dirty="0">
                <a:solidFill>
                  <a:srgbClr val="526070"/>
                </a:solidFill>
                <a:latin typeface="Arial"/>
                <a:ea typeface="Arial" pitchFamily="34" charset="-122"/>
                <a:cs typeface="Arial"/>
              </a:rPr>
              <a:t> con IF, CASE e timer</a:t>
            </a:r>
            <a:endParaRPr lang="en-US" sz="1550" dirty="0">
              <a:latin typeface="Arial"/>
              <a:cs typeface="Arial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8368" y="1435608"/>
            <a:ext cx="1828800" cy="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847088"/>
            <a:ext cx="480060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consente di descrivere in modo diretto le condizioni di controllo.</a:t>
            </a:r>
            <a:endParaRPr lang="en-US" sz="2050" dirty="0"/>
          </a:p>
          <a:p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pressioni dei pulsanti sono gestite come eventi singoli.</a:t>
            </a:r>
            <a:endParaRPr lang="en-US" sz="2050" dirty="0"/>
          </a:p>
          <a:p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richiesta rimane attiva finché il piano non viene raggiunto.</a:t>
            </a:r>
            <a:endParaRPr lang="en-US" sz="2050" dirty="0"/>
          </a:p>
          <a:p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macchina a stati decide quando muovere la cabina o gestire le porte.</a:t>
            </a:r>
            <a:endParaRPr lang="en-US" sz="2050" dirty="0"/>
          </a:p>
        </p:txBody>
      </p:sp>
      <p:sp>
        <p:nvSpPr>
          <p:cNvPr id="12" name="Shape 10"/>
          <p:cNvSpPr/>
          <p:nvPr/>
        </p:nvSpPr>
        <p:spPr>
          <a:xfrm>
            <a:off x="6080760" y="1874520"/>
            <a:ext cx="4846320" cy="2423160"/>
          </a:xfrm>
          <a:prstGeom prst="roundRect">
            <a:avLst>
              <a:gd name="adj" fmla="val 2264"/>
            </a:avLst>
          </a:prstGeom>
          <a:solidFill>
            <a:srgbClr val="0E1B2D"/>
          </a:solidFill>
          <a:ln w="15240">
            <a:solidFill>
              <a:srgbClr val="274B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45352" y="2020824"/>
            <a:ext cx="451713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E7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Trig_P1(CLK := PB_P1);</a:t>
            </a:r>
            <a:endParaRPr lang="en-US" sz="1750" dirty="0"/>
          </a:p>
          <a:p>
            <a:pPr marL="0" indent="0">
              <a:buNone/>
            </a:pP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E7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Trig_P1.Q THEN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E7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Req_P1 := TRUE;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E7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END_IF;</a:t>
            </a:r>
            <a:endParaRPr lang="en-US" sz="1750" dirty="0"/>
          </a:p>
          <a:p>
            <a:pPr marL="0" indent="0">
              <a:buNone/>
            </a:pP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E7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LED_P1 := (CurrentFloor = 1);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6537960" y="4892040"/>
            <a:ext cx="86868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0" y="4892040"/>
            <a:ext cx="86868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921240" y="4892040"/>
            <a:ext cx="795528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70448" y="4645152"/>
            <a:ext cx="1097280" cy="493776"/>
          </a:xfrm>
          <a:prstGeom prst="roundRect">
            <a:avLst>
              <a:gd name="adj" fmla="val 12963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16168" y="47183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Pulsante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42632" y="4645152"/>
            <a:ext cx="1078992" cy="493776"/>
          </a:xfrm>
          <a:prstGeom prst="roundRect">
            <a:avLst>
              <a:gd name="adj" fmla="val 12963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88352" y="4718304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R_TRIG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915400" y="4645152"/>
            <a:ext cx="1234440" cy="493776"/>
          </a:xfrm>
          <a:prstGeom prst="roundRect">
            <a:avLst>
              <a:gd name="adj" fmla="val 12963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0" y="471830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Richiesta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0479024" y="4645152"/>
            <a:ext cx="1005840" cy="493776"/>
          </a:xfrm>
          <a:prstGeom prst="roundRect">
            <a:avLst>
              <a:gd name="adj" fmla="val 12963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24744" y="47183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Uscite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28600"/>
            <a:ext cx="11963095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D6E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47104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Progetto Ascensore PLC · Informatica Industriale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972800" y="654710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548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Ingressi, uscite e variabili interne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102412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segnali sono separati in base alla loro funzione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58368" y="1435608"/>
            <a:ext cx="1828800" cy="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865376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197510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Ingressi da HMI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78408" y="2322576"/>
            <a:ext cx="3072384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PB_P1, PB_P2, PB_P3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PB_OPEN, PB_CLOSE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PB_EMERGENCY, Overload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DoorClosedSensor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407408" y="1865376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2856" y="197510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Stato interno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62856" y="2322576"/>
            <a:ext cx="3072384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CurrentFloor, TargetFloor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Req_P1, Req_P2, Req_P3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MovingUp, MovingDown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T_Move, T_Door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991856" y="1865376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47304" y="197510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Uscite simulate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147304" y="2322576"/>
            <a:ext cx="3072384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MOTOR_UP, MOTOR_DOWN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DOOR_OPEN, DOOR_CLOSE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LED_P1, LED_P2, LED_P3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LED_ALARM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60120" y="571500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separazione fra segnali di ingresso, variabili di stato e uscite rende più semplice verificare la logica e individuare eventuali errori di collegamento.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28600"/>
            <a:ext cx="11963095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D6E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47104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Progetto Ascensore PLC · Informatica Industriale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972800" y="654710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548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Gestione della richiesta di un piano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102412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pressione del pulsante viene trasformata in una richiesta memorizzata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58368" y="1435608"/>
            <a:ext cx="1828800" cy="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32304" y="2514600"/>
            <a:ext cx="228600" cy="0"/>
          </a:xfrm>
          <a:prstGeom prst="line">
            <a:avLst/>
          </a:prstGeom>
          <a:noFill/>
          <a:ln w="1397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61104" y="2514600"/>
            <a:ext cx="228600" cy="0"/>
          </a:xfrm>
          <a:prstGeom prst="line">
            <a:avLst/>
          </a:prstGeom>
          <a:noFill/>
          <a:ln w="1397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89904" y="2514600"/>
            <a:ext cx="228600" cy="0"/>
          </a:xfrm>
          <a:prstGeom prst="line">
            <a:avLst/>
          </a:prstGeom>
          <a:noFill/>
          <a:ln w="1397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918704" y="2514600"/>
            <a:ext cx="228600" cy="0"/>
          </a:xfrm>
          <a:prstGeom prst="line">
            <a:avLst/>
          </a:prstGeom>
          <a:noFill/>
          <a:ln w="1397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747504" y="2514600"/>
            <a:ext cx="228600" cy="0"/>
          </a:xfrm>
          <a:prstGeom prst="line">
            <a:avLst/>
          </a:prstGeom>
          <a:noFill/>
          <a:ln w="1397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86384" y="201168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" y="2084832"/>
            <a:ext cx="1600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Premo P3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HMI</a:t>
            </a:r>
            <a:endParaRPr lang="en-US" sz="1360" dirty="0"/>
          </a:p>
        </p:txBody>
      </p:sp>
      <p:sp>
        <p:nvSpPr>
          <p:cNvPr id="18" name="Shape 16"/>
          <p:cNvSpPr/>
          <p:nvPr/>
        </p:nvSpPr>
        <p:spPr>
          <a:xfrm>
            <a:off x="2615184" y="201168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60904" y="2084832"/>
            <a:ext cx="1600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R_TRIG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 di salita</a:t>
            </a:r>
            <a:endParaRPr lang="en-US" sz="1360" dirty="0"/>
          </a:p>
        </p:txBody>
      </p:sp>
      <p:sp>
        <p:nvSpPr>
          <p:cNvPr id="20" name="Shape 18"/>
          <p:cNvSpPr/>
          <p:nvPr/>
        </p:nvSpPr>
        <p:spPr>
          <a:xfrm>
            <a:off x="4443984" y="201168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D6E9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9704" y="2084832"/>
            <a:ext cx="1600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Req_P3 = TRUE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richiesta</a:t>
            </a:r>
            <a:endParaRPr lang="en-US" sz="1360" dirty="0"/>
          </a:p>
        </p:txBody>
      </p:sp>
      <p:sp>
        <p:nvSpPr>
          <p:cNvPr id="22" name="Shape 20"/>
          <p:cNvSpPr/>
          <p:nvPr/>
        </p:nvSpPr>
        <p:spPr>
          <a:xfrm>
            <a:off x="6272784" y="201168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18504" y="2084832"/>
            <a:ext cx="1600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Controllo safety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abilitazione</a:t>
            </a:r>
            <a:endParaRPr lang="en-US" sz="1360" dirty="0"/>
          </a:p>
        </p:txBody>
      </p:sp>
      <p:sp>
        <p:nvSpPr>
          <p:cNvPr id="24" name="Shape 22"/>
          <p:cNvSpPr/>
          <p:nvPr/>
        </p:nvSpPr>
        <p:spPr>
          <a:xfrm>
            <a:off x="8101584" y="201168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47304" y="2084832"/>
            <a:ext cx="1600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TargetFloor = 3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destinazione</a:t>
            </a:r>
            <a:endParaRPr lang="en-US" sz="1360" dirty="0"/>
          </a:p>
        </p:txBody>
      </p:sp>
      <p:sp>
        <p:nvSpPr>
          <p:cNvPr id="26" name="Shape 24"/>
          <p:cNvSpPr/>
          <p:nvPr/>
        </p:nvSpPr>
        <p:spPr>
          <a:xfrm>
            <a:off x="9930384" y="201168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76104" y="2084832"/>
            <a:ext cx="1600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Movimento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salita o discesa</a:t>
            </a:r>
            <a:endParaRPr lang="en-US" sz="1360" dirty="0"/>
          </a:p>
        </p:txBody>
      </p:sp>
      <p:sp>
        <p:nvSpPr>
          <p:cNvPr id="28" name="Shape 26"/>
          <p:cNvSpPr/>
          <p:nvPr/>
        </p:nvSpPr>
        <p:spPr>
          <a:xfrm>
            <a:off x="1005840" y="397764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61288" y="4087368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Memorizzazione della richiesta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161288" y="4434840"/>
            <a:ext cx="41696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richiesta viene salvata in Req_P3 e rimane attiva finché il piano non viene raggiunto.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492240" y="397764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47688" y="4087368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Vantaggio nella simulazione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6647688" y="4434840"/>
            <a:ext cx="41696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rilascio immediato del pulsante non fa perdere il comando inserito dall’utente.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28600"/>
            <a:ext cx="11963095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D6E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47104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Progetto Ascensore PLC · Informatica Industriale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972800" y="654710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548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 tra i piani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102412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timer TON simula il tempo necessario per raggiungere il piano richiesto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58368" y="1435608"/>
            <a:ext cx="1828800" cy="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993392"/>
            <a:ext cx="502920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CurrentFloor rappresenta il piano attuale.</a:t>
            </a:r>
            <a:endParaRPr lang="en-US" sz="2200" dirty="0"/>
          </a:p>
          <a:p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TargetFloor indica il piano scelto dalla logica.</a:t>
            </a:r>
            <a:endParaRPr lang="en-US" sz="2200" dirty="0"/>
          </a:p>
          <a:p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MovingUp e MovingDown comandano le uscite motore.</a:t>
            </a:r>
            <a:endParaRPr lang="en-US" sz="2200" dirty="0"/>
          </a:p>
          <a:p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fine timer il piano viene aggiornato e si passa alla gestione porte.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356360" y="5491480"/>
            <a:ext cx="128016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01160" y="5481320"/>
            <a:ext cx="128016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9320" y="5179568"/>
            <a:ext cx="1325880" cy="713232"/>
          </a:xfrm>
          <a:prstGeom prst="roundRect">
            <a:avLst>
              <a:gd name="adj" fmla="val 8974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25272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Partenza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2636520" y="5064760"/>
            <a:ext cx="1691640" cy="841248"/>
          </a:xfrm>
          <a:prstGeom prst="roundRect">
            <a:avLst>
              <a:gd name="adj" fmla="val 7609"/>
            </a:avLst>
          </a:prstGeom>
          <a:solidFill>
            <a:srgbClr val="D6E9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41600" y="5148072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 TON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secondi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71160" y="5064760"/>
            <a:ext cx="1508760" cy="841248"/>
          </a:xfrm>
          <a:prstGeom prst="roundRect">
            <a:avLst>
              <a:gd name="adj" fmla="val 7609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06720" y="5158232"/>
            <a:ext cx="1417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40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0" y="1874520"/>
            <a:ext cx="3886200" cy="416052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3970">
            <a:solidFill>
              <a:srgbClr val="BFD7F5"/>
            </a:solidFill>
            <a:prstDash val="solid"/>
          </a:ln>
        </p:spPr>
      </p:sp>
      <p:pic>
        <p:nvPicPr>
          <p:cNvPr id="21" name="Image 0" descr="/mnt/data/ppt_unzip/ppt/media/image-8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2099792"/>
            <a:ext cx="3739896" cy="370997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315200" y="610819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 di cabina in movimento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28600"/>
            <a:ext cx="11963095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D6E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47104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Progetto Ascensore PLC · Informatica Industriale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972800" y="654710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548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Macchina a stati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102412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fasi operative sono separate per semplificare controllo e manutenzione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58368" y="1435608"/>
            <a:ext cx="1828800" cy="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0280" y="2377440"/>
            <a:ext cx="100584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17720" y="2377440"/>
            <a:ext cx="105156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040880" y="2377440"/>
            <a:ext cx="105156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281160" y="2834640"/>
            <a:ext cx="0" cy="82296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458200" y="4160520"/>
            <a:ext cx="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50992" y="4160520"/>
            <a:ext cx="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788920" y="4160520"/>
            <a:ext cx="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280160" y="1920240"/>
            <a:ext cx="1234440" cy="914400"/>
          </a:xfrm>
          <a:prstGeom prst="roundRect">
            <a:avLst>
              <a:gd name="adj" fmla="val 7000"/>
            </a:avLst>
          </a:prstGeom>
          <a:solidFill>
            <a:srgbClr val="D6E9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1993392"/>
            <a:ext cx="1143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Fermo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3246120" y="1920240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993392"/>
            <a:ext cx="1463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30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5623560" y="1920240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1993392"/>
            <a:ext cx="1463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31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timer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046720" y="1920240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1993392"/>
            <a:ext cx="1508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Porte aperte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8046720" y="3703320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3776472"/>
            <a:ext cx="1508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Chiusura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4251960" y="3703320"/>
            <a:ext cx="1874520" cy="914400"/>
          </a:xfrm>
          <a:prstGeom prst="roundRect">
            <a:avLst>
              <a:gd name="adj" fmla="val 7000"/>
            </a:avLst>
          </a:prstGeom>
          <a:solidFill>
            <a:srgbClr val="FFECCB"/>
          </a:solidFill>
          <a:ln w="13970">
            <a:solidFill>
              <a:srgbClr val="F3B3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3776472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SafetyStop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7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blocco uscite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0120" y="553212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variabile State permette di sapere con precisione in quale fase si trova il programma: fermo, movimento, gestione timer, apertura porte o chiusura.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28600"/>
            <a:ext cx="11963095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D6E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47104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Progetto Ascensore PLC · Informatica Industriale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972800" y="654710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548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Gestione delle porte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102412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porta è parte della logica di controllo e non solo un elemento grafico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58368" y="1435608"/>
            <a:ext cx="1828800" cy="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2834640"/>
            <a:ext cx="987552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74920" y="2834640"/>
            <a:ext cx="96012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52360" y="2834640"/>
            <a:ext cx="96012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371600" y="2340864"/>
            <a:ext cx="1554480" cy="987552"/>
          </a:xfrm>
          <a:prstGeom prst="roundRect">
            <a:avLst>
              <a:gd name="adj" fmla="val 6481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2414016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piano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83280" y="2340864"/>
            <a:ext cx="1554480" cy="987552"/>
          </a:xfrm>
          <a:prstGeom prst="roundRect">
            <a:avLst>
              <a:gd name="adj" fmla="val 6481"/>
            </a:avLst>
          </a:prstGeom>
          <a:solidFill>
            <a:srgbClr val="D6E9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414016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06440" y="2340864"/>
            <a:ext cx="1554480" cy="987552"/>
          </a:xfrm>
          <a:prstGeom prst="roundRect">
            <a:avLst>
              <a:gd name="adj" fmla="val 6481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2414016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Attesa /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chiusura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75320" y="2340864"/>
            <a:ext cx="1554480" cy="987552"/>
          </a:xfrm>
          <a:prstGeom prst="roundRect">
            <a:avLst>
              <a:gd name="adj" fmla="val 6481"/>
            </a:avLst>
          </a:prstGeom>
          <a:solidFill>
            <a:srgbClr val="E6F4EA"/>
          </a:solidFill>
          <a:ln w="13970">
            <a:solidFill>
              <a:srgbClr val="B6D7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414016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sicura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51560" y="4160520"/>
            <a:ext cx="4251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07008" y="4270248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Stato 40 · apertura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207008" y="4617720"/>
            <a:ext cx="3941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DOOR_OPEN attivo, DOOR_CLOSE disattivo.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989320" y="4160520"/>
            <a:ext cx="45262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4270248"/>
            <a:ext cx="4215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Stato 50 · chiusura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144768" y="4617720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Ripartenza consentita solo con DoorClosedSensor attivo.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28600"/>
            <a:ext cx="11963095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D6E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47104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Progetto Ascensore PLC · Informatica Industriale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972800" y="654710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548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Sicurezza e condizioni di blocco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58368" y="1435608"/>
            <a:ext cx="1828800" cy="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874520"/>
            <a:ext cx="5074920" cy="2514600"/>
          </a:xfrm>
          <a:prstGeom prst="roundRect">
            <a:avLst>
              <a:gd name="adj" fmla="val 2182"/>
            </a:avLst>
          </a:prstGeom>
          <a:solidFill>
            <a:srgbClr val="0E1B2D"/>
          </a:solidFill>
          <a:ln w="15240">
            <a:solidFill>
              <a:srgbClr val="274B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2020824"/>
            <a:ext cx="4745736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7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SafetyStop := PB_EMERGENCY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7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OR Overload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7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OR NOT DoorClosedSensor;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7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SafetyStop THEN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7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MOTOR_UP := FALSE;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7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MOTOR_DOWN := FALSE;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7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LED_ALARM := TRUE;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7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END_IF;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00800" y="1920240"/>
            <a:ext cx="44805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Overload impedisce la partenza.</a:t>
            </a:r>
            <a:endParaRPr lang="en-US" sz="2050" dirty="0"/>
          </a:p>
          <a:p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PB_EMERGENCY forza l’arresto.</a:t>
            </a:r>
            <a:endParaRPr lang="en-US" sz="2050" dirty="0"/>
          </a:p>
          <a:p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DoorClosedSensor protegge il movimento.</a:t>
            </a:r>
            <a:endParaRPr lang="en-US" sz="2050" dirty="0"/>
          </a:p>
          <a:p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LED_ALARM segnala la condizione critica.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6309360" y="4434840"/>
            <a:ext cx="4617720" cy="841248"/>
          </a:xfrm>
          <a:prstGeom prst="roundRect">
            <a:avLst>
              <a:gd name="adj" fmla="val 8696"/>
            </a:avLst>
          </a:prstGeom>
          <a:solidFill>
            <a:srgbClr val="FFF3D7"/>
          </a:solidFill>
          <a:ln w="12700">
            <a:solidFill>
              <a:srgbClr val="F1C3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608576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6B4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Nota: la safety è una simulazione didattica e non sostituisce dispositivi certificati per impianti reali.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28600"/>
            <a:ext cx="11963095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D6E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47104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Progetto Ascensore PLC · Informatica Industriale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972800" y="654710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548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 di ciclo completo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102412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 piano 1 al piano 3 con apertura porte all’arrivo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58368" y="1435608"/>
            <a:ext cx="1828800" cy="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65376" y="2542032"/>
            <a:ext cx="219456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73552" y="2542032"/>
            <a:ext cx="219456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81728" y="2542032"/>
            <a:ext cx="219456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89904" y="2542032"/>
            <a:ext cx="219456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98080" y="2542032"/>
            <a:ext cx="219456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06256" y="2542032"/>
            <a:ext cx="219456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314432" y="2542032"/>
            <a:ext cx="219456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58368" y="2103120"/>
            <a:ext cx="1234440" cy="868680"/>
          </a:xfrm>
          <a:prstGeom prst="roundRect">
            <a:avLst>
              <a:gd name="adj" fmla="val 7368"/>
            </a:avLst>
          </a:prstGeom>
          <a:solidFill>
            <a:srgbClr val="D6E9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2176272"/>
            <a:ext cx="1143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P1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fermo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2066544" y="2103120"/>
            <a:ext cx="1234440" cy="868680"/>
          </a:xfrm>
          <a:prstGeom prst="roundRect">
            <a:avLst>
              <a:gd name="adj" fmla="val 7368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12264" y="2176272"/>
            <a:ext cx="1143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Premo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474720" y="2103120"/>
            <a:ext cx="1234440" cy="868680"/>
          </a:xfrm>
          <a:prstGeom prst="roundRect">
            <a:avLst>
              <a:gd name="adj" fmla="val 7368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2176272"/>
            <a:ext cx="1143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Req_P3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882896" y="2103120"/>
            <a:ext cx="1234440" cy="868680"/>
          </a:xfrm>
          <a:prstGeom prst="roundRect">
            <a:avLst>
              <a:gd name="adj" fmla="val 7368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8616" y="2176272"/>
            <a:ext cx="1143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Target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3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91072" y="2103120"/>
            <a:ext cx="1234440" cy="868680"/>
          </a:xfrm>
          <a:prstGeom prst="roundRect">
            <a:avLst>
              <a:gd name="adj" fmla="val 7368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6792" y="2176272"/>
            <a:ext cx="1143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Motore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699248" y="2103120"/>
            <a:ext cx="1234440" cy="868680"/>
          </a:xfrm>
          <a:prstGeom prst="roundRect">
            <a:avLst>
              <a:gd name="adj" fmla="val 7368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44968" y="2176272"/>
            <a:ext cx="1143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Timer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9107424" y="2103120"/>
            <a:ext cx="1234440" cy="868680"/>
          </a:xfrm>
          <a:prstGeom prst="roundRect">
            <a:avLst>
              <a:gd name="adj" fmla="val 7368"/>
            </a:avLst>
          </a:prstGeom>
          <a:solidFill>
            <a:srgbClr val="EAF3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53144" y="2176272"/>
            <a:ext cx="1143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Arrivo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10515600" y="2103120"/>
            <a:ext cx="1234440" cy="868680"/>
          </a:xfrm>
          <a:prstGeom prst="roundRect">
            <a:avLst>
              <a:gd name="adj" fmla="val 7368"/>
            </a:avLst>
          </a:prstGeom>
          <a:solidFill>
            <a:srgbClr val="E6F4EA"/>
          </a:solidFill>
          <a:ln w="13970">
            <a:solidFill>
              <a:srgbClr val="B6D7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61320" y="2176272"/>
            <a:ext cx="1143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Porte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aperte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960120" y="4069080"/>
            <a:ext cx="4251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25728" y="4363720"/>
            <a:ext cx="3941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linea mostra il comportamento esterno dell’ascensore: richiesta, movimento, arrivo e apertura porte.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6172200" y="4069080"/>
            <a:ext cx="44805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7648" y="4178808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Collegamento con State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6327648" y="4526280"/>
            <a:ext cx="4169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fase corrisponde a uno stato operativo: fermo, salita, reset timer, porte aperte e chiusura.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28600"/>
            <a:ext cx="11963095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D6E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47104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Progetto Ascensore PLC · Informatica Industriale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972800" y="654710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548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HMI e prove di funzionamento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102412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50" dirty="0" err="1">
                <a:solidFill>
                  <a:srgbClr val="526070"/>
                </a:solidFill>
                <a:latin typeface="Arial"/>
                <a:ea typeface="Arial" pitchFamily="34" charset="-122"/>
                <a:cs typeface="Arial"/>
              </a:rPr>
              <a:t>Utilizzo</a:t>
            </a:r>
            <a:r>
              <a:rPr lang="en-US" sz="1550" dirty="0">
                <a:solidFill>
                  <a:srgbClr val="526070"/>
                </a:solidFill>
                <a:latin typeface="Arial"/>
                <a:ea typeface="Arial" pitchFamily="34" charset="-122"/>
                <a:cs typeface="Arial"/>
              </a:rPr>
              <a:t> della </a:t>
            </a:r>
            <a:r>
              <a:rPr lang="en-US" sz="1550" dirty="0" err="1">
                <a:solidFill>
                  <a:srgbClr val="526070"/>
                </a:solidFill>
                <a:latin typeface="Arial"/>
                <a:ea typeface="Arial" pitchFamily="34" charset="-122"/>
                <a:cs typeface="Arial"/>
              </a:rPr>
              <a:t>Visualizzazione</a:t>
            </a:r>
            <a:r>
              <a:rPr lang="en-US" sz="1550" dirty="0">
                <a:solidFill>
                  <a:srgbClr val="526070"/>
                </a:solidFill>
                <a:latin typeface="Arial"/>
                <a:ea typeface="Arial" pitchFamily="34" charset="-122"/>
                <a:cs typeface="Arial"/>
              </a:rPr>
              <a:t> come banco di prova del programma</a:t>
            </a:r>
            <a:endParaRPr lang="en-US" sz="1550" dirty="0">
              <a:latin typeface="Arial"/>
              <a:cs typeface="Arial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8368" y="1435608"/>
            <a:ext cx="1828800" cy="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828800"/>
            <a:ext cx="338328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3970">
            <a:solidFill>
              <a:srgbClr val="BFD7F5"/>
            </a:solidFill>
            <a:prstDash val="solid"/>
          </a:ln>
        </p:spPr>
      </p:sp>
      <p:pic>
        <p:nvPicPr>
          <p:cNvPr id="12" name="Image 0" descr="/mnt/data/ppt_unzip/ppt/media/image-1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93" y="1901952"/>
            <a:ext cx="3124815" cy="309981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51480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Stato fermo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89120" y="1828800"/>
            <a:ext cx="338328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3970">
            <a:solidFill>
              <a:srgbClr val="BFD7F5"/>
            </a:solidFill>
            <a:prstDash val="solid"/>
          </a:ln>
        </p:spPr>
      </p:sp>
      <p:pic>
        <p:nvPicPr>
          <p:cNvPr id="15" name="Image 1" descr="/mnt/data/ppt_unzip/ppt/media/image-13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353" y="1901952"/>
            <a:ext cx="3124815" cy="30998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0" y="51480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 e indicatori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8229600" y="1825752"/>
            <a:ext cx="265176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Arial"/>
                <a:ea typeface="Arial" pitchFamily="34" charset="-122"/>
                <a:cs typeface="Arial"/>
              </a:rPr>
              <a:t>PROVE PRINCIPALI:</a:t>
            </a:r>
            <a:endParaRPr lang="en-US" sz="1400" dirty="0">
              <a:latin typeface="Arial"/>
              <a:cs typeface="Arial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8229600" y="2240280"/>
            <a:ext cx="306324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50" dirty="0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-</a:t>
            </a:r>
            <a:r>
              <a:rPr lang="en-US" sz="1850" dirty="0" err="1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chiamata</a:t>
            </a:r>
            <a:r>
              <a:rPr lang="en-US" sz="1850" dirty="0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 ai </a:t>
            </a:r>
            <a:r>
              <a:rPr lang="en-US" sz="1850" dirty="0" err="1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tre</a:t>
            </a:r>
            <a:r>
              <a:rPr lang="en-US" sz="1850" dirty="0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850" dirty="0" err="1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piani</a:t>
            </a:r>
            <a:r>
              <a:rPr lang="en-US" sz="1850" dirty="0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;</a:t>
            </a:r>
            <a:endParaRPr lang="en-US" sz="1850" dirty="0">
              <a:latin typeface="Arial"/>
              <a:cs typeface="Arial"/>
            </a:endParaRPr>
          </a:p>
          <a:p>
            <a:r>
              <a:rPr lang="en-US" sz="1850" dirty="0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-</a:t>
            </a:r>
            <a:r>
              <a:rPr lang="en-US" sz="1850" dirty="0" err="1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cambio</a:t>
            </a:r>
            <a:r>
              <a:rPr lang="en-US" sz="1850" dirty="0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 piano con timer;</a:t>
            </a:r>
            <a:endParaRPr lang="en-US" sz="1850" dirty="0">
              <a:latin typeface="Arial"/>
              <a:cs typeface="Arial"/>
            </a:endParaRPr>
          </a:p>
          <a:p>
            <a:r>
              <a:rPr lang="en-US" sz="1850" dirty="0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-LED del piano </a:t>
            </a:r>
            <a:r>
              <a:rPr lang="en-US" sz="1850" dirty="0" err="1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corrente</a:t>
            </a:r>
            <a:r>
              <a:rPr lang="en-US" sz="1850" dirty="0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;</a:t>
            </a:r>
            <a:endParaRPr lang="en-US" sz="1850" dirty="0">
              <a:latin typeface="Arial"/>
              <a:cs typeface="Arial"/>
            </a:endParaRPr>
          </a:p>
          <a:p>
            <a:r>
              <a:rPr lang="en-US" sz="1850" dirty="0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-apertura </a:t>
            </a:r>
            <a:r>
              <a:rPr lang="en-US" sz="1850" dirty="0" err="1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porte</a:t>
            </a:r>
            <a:r>
              <a:rPr lang="en-US" sz="1850" dirty="0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850" dirty="0" err="1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all’arrivo</a:t>
            </a:r>
            <a:r>
              <a:rPr lang="en-US" sz="1850" dirty="0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;</a:t>
            </a:r>
            <a:endParaRPr lang="en-US" sz="1850" dirty="0">
              <a:latin typeface="Arial"/>
              <a:cs typeface="Arial"/>
            </a:endParaRPr>
          </a:p>
          <a:p>
            <a:r>
              <a:rPr lang="en-US" sz="1850" dirty="0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-</a:t>
            </a:r>
            <a:r>
              <a:rPr lang="en-US" sz="1850" dirty="0" err="1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blocco</a:t>
            </a:r>
            <a:r>
              <a:rPr lang="en-US" sz="1850" dirty="0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 con emergency, </a:t>
            </a:r>
            <a:endParaRPr lang="en-US" sz="1850" dirty="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  <a:p>
            <a:r>
              <a:rPr lang="en-US" sz="1850" dirty="0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-overload e </a:t>
            </a:r>
            <a:r>
              <a:rPr lang="en-US" sz="1850" dirty="0" err="1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sensore</a:t>
            </a:r>
            <a:r>
              <a:rPr lang="en-US" sz="1850" dirty="0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 porta.</a:t>
            </a:r>
            <a:endParaRPr lang="en-US"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28600"/>
            <a:ext cx="11963095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D6E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47104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Progetto Ascensore PLC · Informatica Industriale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972800" y="654710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548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Limiti e sviluppi futuri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102412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50" dirty="0" err="1">
                <a:solidFill>
                  <a:srgbClr val="526070"/>
                </a:solidFill>
                <a:cs typeface="Arial"/>
              </a:rPr>
              <a:t>Possibili</a:t>
            </a:r>
            <a:r>
              <a:rPr lang="en-US" sz="1550" dirty="0">
                <a:solidFill>
                  <a:srgbClr val="526070"/>
                </a:solidFill>
                <a:cs typeface="Arial"/>
              </a:rPr>
              <a:t> </a:t>
            </a:r>
            <a:r>
              <a:rPr lang="en-US" sz="1550" dirty="0" err="1">
                <a:solidFill>
                  <a:srgbClr val="526070"/>
                </a:solidFill>
                <a:cs typeface="Arial"/>
              </a:rPr>
              <a:t>miglioramenti</a:t>
            </a:r>
            <a:r>
              <a:rPr lang="en-US" sz="1550" dirty="0">
                <a:solidFill>
                  <a:srgbClr val="526070"/>
                </a:solidFill>
                <a:cs typeface="Arial"/>
              </a:rPr>
              <a:t> per </a:t>
            </a:r>
            <a:r>
              <a:rPr lang="en-US" sz="1550" dirty="0" err="1">
                <a:solidFill>
                  <a:srgbClr val="526070"/>
                </a:solidFill>
                <a:cs typeface="Arial"/>
              </a:rPr>
              <a:t>ultimare</a:t>
            </a:r>
            <a:r>
              <a:rPr lang="en-US" sz="1550" dirty="0">
                <a:solidFill>
                  <a:srgbClr val="526070"/>
                </a:solidFill>
                <a:cs typeface="Arial"/>
              </a:rPr>
              <a:t> il </a:t>
            </a:r>
            <a:r>
              <a:rPr lang="en-US" sz="1550" dirty="0" err="1">
                <a:solidFill>
                  <a:srgbClr val="526070"/>
                </a:solidFill>
                <a:cs typeface="Arial"/>
              </a:rPr>
              <a:t>progetto</a:t>
            </a:r>
          </a:p>
        </p:txBody>
      </p:sp>
      <p:sp>
        <p:nvSpPr>
          <p:cNvPr id="10" name="Shape 8"/>
          <p:cNvSpPr/>
          <p:nvPr/>
        </p:nvSpPr>
        <p:spPr>
          <a:xfrm>
            <a:off x="658368" y="1435608"/>
            <a:ext cx="1828800" cy="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874520"/>
            <a:ext cx="484632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1984248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Limiti attuali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24128" y="2331720"/>
            <a:ext cx="453542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modello a 3 piani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chiamate solo interne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priorità semplice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• safety </a:t>
            </a:r>
            <a:r>
              <a:rPr lang="en-US" sz="2000" dirty="0" err="1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simulata</a:t>
            </a:r>
            <a:endParaRPr lang="en-US" sz="2000" dirty="0" err="1">
              <a:latin typeface="Arial"/>
              <a:cs typeface="Arial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0" y="1874520"/>
            <a:ext cx="484632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3970">
            <a:solidFill>
              <a:srgbClr val="BFD7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84248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Miglioramenti possibili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56248" y="2331720"/>
            <a:ext cx="453542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aggiungere chiamate esterne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gestire una coda di richieste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• dare </a:t>
            </a:r>
            <a:r>
              <a:rPr lang="en-US" sz="2000" dirty="0" err="1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priorità</a:t>
            </a:r>
            <a:r>
              <a:rPr lang="en-US" sz="2000" dirty="0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 alla </a:t>
            </a:r>
            <a:r>
              <a:rPr lang="en-US" sz="2000" dirty="0" err="1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direzione</a:t>
            </a:r>
            <a:r>
              <a:rPr lang="en-US" sz="2000" dirty="0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000" dirty="0" err="1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corrente</a:t>
            </a:r>
            <a:endParaRPr lang="en-US" sz="2000" dirty="0" err="1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simulare guasti e reset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28600"/>
            <a:ext cx="11963095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D6E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47104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Progetto Ascensore PLC · Informatica Industriale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972800" y="654710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548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58368" y="1435608"/>
            <a:ext cx="1828800" cy="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722120"/>
            <a:ext cx="10744200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progetto implementa una simulazione di ascensore a 3 piani con comandi, richieste memorizzate, timer di movimento, gestione porte, interblocchi e HMI di test.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22960" y="59436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Davide Martiniello · Matricola 177680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Progetto Ascensore PLC</dc:title>
  <dc:subject>Progetto Ascensore PLC</dc:subject>
  <dc:creator>Davide Martiniello</dc:creator>
  <cp:lastModifiedBy>Davide Martiniello</cp:lastModifiedBy>
  <cp:revision>72</cp:revision>
  <dcterms:created xsi:type="dcterms:W3CDTF">2026-09-17T17:11:50Z</dcterms:created>
  <dcterms:modified xsi:type="dcterms:W3CDTF">2026-09-17T17:33:52Z</dcterms:modified>
</cp:coreProperties>
</file>