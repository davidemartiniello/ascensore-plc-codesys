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58368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Progetto Ascensore PLC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12648" y="13258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Automazione di un ascensore a 3 piani in CODESYS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1792" y="1920240"/>
            <a:ext cx="1005840" cy="292608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020"/>
                </a:solidFill>
              </a:rPr>
              <a:t>CODESYS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755648" y="1920240"/>
            <a:ext cx="1508760" cy="29260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020"/>
                </a:solidFill>
              </a:rPr>
              <a:t>Structured Text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01568" y="1920240"/>
            <a:ext cx="1325880" cy="292608"/>
          </a:xfrm>
          <a:prstGeom prst="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020"/>
                </a:solidFill>
              </a:rPr>
              <a:t>IEC 61131-3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 PLC, macchina a stati, gestione porte, timer, sicurezza e HMI di simulazione.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858000" y="594360"/>
            <a:ext cx="4297680" cy="4279392"/>
          </a:xfrm>
          <a:prstGeom prst="roundRect">
            <a:avLst>
              <a:gd name="adj" fmla="val 2564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2" name="Image 0" descr="/mnt/data/plc_assets/01_HMI_Stato_Iniziale_crop.png">    </p:cNvPr>
          <p:cNvPicPr>
            <a:picLocks noChangeAspect="1"/>
          </p:cNvPicPr>
          <p:nvPr/>
        </p:nvPicPr>
        <p:blipFill>
          <a:blip r:embed="rId1"/>
          <a:srcRect l="183" r="183" t="0" b="0"/>
          <a:stretch/>
        </p:blipFill>
        <p:spPr>
          <a:xfrm>
            <a:off x="6903720" y="640080"/>
            <a:ext cx="4206240" cy="41879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03720" y="49011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HMI finale del progetto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12648" y="614476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Davide Martiniello · Informatica Industriale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Progetto Ascensore PLC · Informatica Industriale ·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Obiettivo e requisiti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Cosa deve simulare il sistema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0" y="914400"/>
            <a:ext cx="4297680" cy="4261104"/>
          </a:xfrm>
          <a:prstGeom prst="roundRect">
            <a:avLst>
              <a:gd name="adj" fmla="val 2575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/mnt/data/plc_assets/01_HMI_Stato_Iniziale_crop.png">    </p:cNvPr>
          <p:cNvPicPr>
            <a:picLocks noChangeAspect="1"/>
          </p:cNvPicPr>
          <p:nvPr/>
        </p:nvPicPr>
        <p:blipFill>
          <a:blip r:embed="rId1"/>
          <a:srcRect l="0" r="0" t="35" b="35"/>
          <a:stretch/>
        </p:blipFill>
        <p:spPr>
          <a:xfrm>
            <a:off x="6903720" y="960120"/>
            <a:ext cx="4206240" cy="41696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03720" y="520293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Stato iniziale: ascensore fermo e sicuro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13258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3 piani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2788920" y="134416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selezione P1, P2, P3 con richieste memorizzate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1764792"/>
            <a:ext cx="52120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1488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Movimento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788920" y="216712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salita/discesa con timer di percorrenza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" y="2587752"/>
            <a:ext cx="52120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29718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Porte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2788920" y="299008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apertura all’arrivo e chiusura comandata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5800" y="3410712"/>
            <a:ext cx="52120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37947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FAFC"/>
                </a:solidFill>
              </a:rPr>
              <a:t>Sicurezza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2788920" y="381304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emergenza, sovraccarico, porta sicura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85800" y="4233672"/>
            <a:ext cx="52120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5166360"/>
            <a:ext cx="5394960" cy="676656"/>
          </a:xfrm>
          <a:prstGeom prst="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Risultato: un modello didattico completo, testabile senza PLC fisico tramite simulazione CODESYS.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502920" y="64739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Progetto Ascensore PLC · Informatica Industriale ·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Structured Text nel progetto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Linguaggio testuale per descrivere logiche PLC complesse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3840480" cy="210312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Trig_P1(CLK := PB_P1);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Trig_P1.Q THEN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Req_P1 := TRUE;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END_IF;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LED_P1 := (CurrentFloor = 1);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060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Perché ST qui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00600" y="1664208"/>
            <a:ext cx="2560320" cy="1325880"/>
          </a:xfrm>
          <a:prstGeom prst="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logica richiede condizioni, timer, variabili di stato e sequenze ordinate. ST rende il comportamento leggibile e facilmente spiegabile.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27632" y="4251960"/>
            <a:ext cx="1161288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03904" y="4251960"/>
            <a:ext cx="1161288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4251960"/>
            <a:ext cx="1161288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83880" y="4251960"/>
            <a:ext cx="1161288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85800" y="3977640"/>
            <a:ext cx="1417320" cy="548640"/>
          </a:xfrm>
          <a:prstGeom prst="rect">
            <a:avLst/>
          </a:prstGeom>
          <a:solidFill>
            <a:srgbClr val="1F2A44"/>
          </a:solidFill>
          <a:ln w="1524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Pulsante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3977640"/>
            <a:ext cx="1417320" cy="548640"/>
          </a:xfrm>
          <a:prstGeom prst="rect">
            <a:avLst/>
          </a:prstGeom>
          <a:solidFill>
            <a:srgbClr val="1F2A44"/>
          </a:solidFill>
          <a:ln w="15240">
            <a:solidFill>
              <a:srgbClr val="22D3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R_TRIG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3977640"/>
            <a:ext cx="1417320" cy="548640"/>
          </a:xfrm>
          <a:prstGeom prst="rect">
            <a:avLst/>
          </a:prstGeom>
          <a:solidFill>
            <a:srgbClr val="1F2A44"/>
          </a:solidFill>
          <a:ln w="15240">
            <a:solidFill>
              <a:srgbClr val="34D3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Richiesta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3977640"/>
            <a:ext cx="1417320" cy="548640"/>
          </a:xfrm>
          <a:prstGeom prst="rect">
            <a:avLst/>
          </a:prstGeom>
          <a:solidFill>
            <a:srgbClr val="1F2A44"/>
          </a:solidFill>
          <a:ln w="15240">
            <a:solidFill>
              <a:srgbClr val="FBBF2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Stato PLC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98280" y="3977640"/>
            <a:ext cx="1417320" cy="548640"/>
          </a:xfrm>
          <a:prstGeom prst="rect">
            <a:avLst/>
          </a:prstGeom>
          <a:solidFill>
            <a:srgbClr val="1F2A44"/>
          </a:solidFill>
          <a:ln w="1524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Uscite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892040"/>
            <a:ext cx="9784080" cy="502920"/>
          </a:xfrm>
          <a:prstGeom prst="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pressione viene trasformata in evento, memorizzata e poi gestita dalla macchina a stati.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Progetto Ascensore PLC · Informatica Industriale ·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Architettura logica PLC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Ingressi, logica di controllo e uscite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154680" y="2880360"/>
            <a:ext cx="118872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720840" y="2880360"/>
            <a:ext cx="118872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85800" y="1691640"/>
            <a:ext cx="2468880" cy="2377440"/>
          </a:xfrm>
          <a:prstGeom prst="rect">
            <a:avLst/>
          </a:prstGeom>
          <a:solidFill>
            <a:srgbClr val="1F2A44"/>
          </a:solidFill>
          <a:ln w="1524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INGRESSI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PB_P1/P2/P3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PB_OPEN / PB_CLOSE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Overload / Emergency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DoorClosedSensor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1691640"/>
            <a:ext cx="2468880" cy="2377440"/>
          </a:xfrm>
          <a:prstGeom prst="rect">
            <a:avLst/>
          </a:prstGeom>
          <a:solidFill>
            <a:srgbClr val="1F2A44"/>
          </a:solidFill>
          <a:ln w="15240">
            <a:solidFill>
              <a:srgbClr val="22D3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LOGICA PLC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Selezione piano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Macchina a stati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Timer TON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SafetyStop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09560" y="1691640"/>
            <a:ext cx="2468880" cy="2377440"/>
          </a:xfrm>
          <a:prstGeom prst="rect">
            <a:avLst/>
          </a:prstGeom>
          <a:solidFill>
            <a:srgbClr val="1F2A44"/>
          </a:solidFill>
          <a:ln w="15240">
            <a:solidFill>
              <a:srgbClr val="34D3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USCITE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MOTOR_UP / DOWN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DOOR_OPEN / CLOSE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LED piano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LED allarmi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892040"/>
            <a:ext cx="9235440" cy="594360"/>
          </a:xfrm>
          <a:prstGeom prst="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PLC legge ciclicamente gli ingressi, aggiorna lo stato interno e pilota le uscite della simulazione.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Progetto Ascensore PLC · Informatica Industriale ·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Macchina a stati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Separazione delle fasi di funzionamento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965960" y="2057400"/>
            <a:ext cx="96012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77640" y="2057400"/>
            <a:ext cx="96012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89320" y="2057400"/>
            <a:ext cx="96012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01000" y="2057400"/>
            <a:ext cx="96012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555480" y="2633472"/>
            <a:ext cx="0" cy="950976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61120" y="4160520"/>
            <a:ext cx="-96012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949440" y="4160520"/>
            <a:ext cx="-96012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37760" y="4160520"/>
            <a:ext cx="-960120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77240" y="1664208"/>
            <a:ext cx="1188720" cy="786384"/>
          </a:xfrm>
          <a:prstGeom prst="rect">
            <a:avLst/>
          </a:prstGeom>
          <a:solidFill>
            <a:srgbClr val="1F2A44"/>
          </a:solidFill>
          <a:ln w="15240">
            <a:solidFill>
              <a:srgbClr val="34D39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Fermo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1664208"/>
            <a:ext cx="1188720" cy="786384"/>
          </a:xfrm>
          <a:prstGeom prst="rect">
            <a:avLst/>
          </a:prstGeom>
          <a:solidFill>
            <a:srgbClr val="1F2A44"/>
          </a:solidFill>
          <a:ln w="15240">
            <a:solidFill>
              <a:srgbClr val="22D3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20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Salita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664208"/>
            <a:ext cx="1188720" cy="786384"/>
          </a:xfrm>
          <a:prstGeom prst="rect">
            <a:avLst/>
          </a:prstGeom>
          <a:solidFill>
            <a:srgbClr val="1F2A44"/>
          </a:solidFill>
          <a:ln w="15240">
            <a:solidFill>
              <a:srgbClr val="22D3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21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Reset 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1664208"/>
            <a:ext cx="1188720" cy="786384"/>
          </a:xfrm>
          <a:prstGeom prst="rect">
            <a:avLst/>
          </a:prstGeom>
          <a:solidFill>
            <a:srgbClr val="1F2A44"/>
          </a:solidFill>
          <a:ln w="15240">
            <a:solidFill>
              <a:srgbClr val="FBBF2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40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Porte aperte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0" y="1664208"/>
            <a:ext cx="1188720" cy="786384"/>
          </a:xfrm>
          <a:prstGeom prst="rect">
            <a:avLst/>
          </a:prstGeom>
          <a:solidFill>
            <a:srgbClr val="1F2A44"/>
          </a:solidFill>
          <a:ln w="15240">
            <a:solidFill>
              <a:srgbClr val="FBBF2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50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Chiusura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3767328"/>
            <a:ext cx="1188720" cy="786384"/>
          </a:xfrm>
          <a:prstGeom prst="rect">
            <a:avLst/>
          </a:prstGeom>
          <a:solidFill>
            <a:srgbClr val="1F2A44"/>
          </a:solidFill>
          <a:ln w="1524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30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Discesa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767328"/>
            <a:ext cx="1188720" cy="786384"/>
          </a:xfrm>
          <a:prstGeom prst="rect">
            <a:avLst/>
          </a:prstGeom>
          <a:solidFill>
            <a:srgbClr val="1F2A44"/>
          </a:solidFill>
          <a:ln w="15240">
            <a:solidFill>
              <a:srgbClr val="60A5F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31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Reset 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06040" y="3767328"/>
            <a:ext cx="1371600" cy="786384"/>
          </a:xfrm>
          <a:prstGeom prst="rect">
            <a:avLst/>
          </a:prstGeom>
          <a:solidFill>
            <a:srgbClr val="1F2A44"/>
          </a:solidFill>
          <a:ln w="15240">
            <a:solidFill>
              <a:srgbClr val="F8717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SafetyStop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blocco uscite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5029200"/>
            <a:ext cx="9555480" cy="1051560"/>
          </a:xfrm>
          <a:prstGeom prst="roundRect">
            <a:avLst>
              <a:gd name="adj" fmla="val 10435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4" name="Image 0" descr="/mnt/data/plc_assets/06_State_Machine_ST_crop.png">    </p:cNvPr>
          <p:cNvPicPr>
            <a:picLocks noChangeAspect="1"/>
          </p:cNvPicPr>
          <p:nvPr/>
        </p:nvPicPr>
        <p:blipFill>
          <a:blip r:embed="rId1"/>
          <a:srcRect l="0" r="0" t="44216" b="44216"/>
          <a:stretch/>
        </p:blipFill>
        <p:spPr>
          <a:xfrm>
            <a:off x="777240" y="5074920"/>
            <a:ext cx="9464040" cy="9601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77240" y="6108192"/>
            <a:ext cx="9464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Estratto del codice ST: CASE State OF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2920" y="64739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Progetto Ascensore PLC · Informatica Industriale ·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Sequenza operativa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Dal pulsante piano all’arrivo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28800" y="2788920"/>
            <a:ext cx="338328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73552" y="2788920"/>
            <a:ext cx="338328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18304" y="2788920"/>
            <a:ext cx="338328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163056" y="2788920"/>
            <a:ext cx="338328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607808" y="2788920"/>
            <a:ext cx="338328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52560" y="2788920"/>
            <a:ext cx="338328" cy="0"/>
          </a:xfrm>
          <a:prstGeom prst="line">
            <a:avLst/>
          </a:prstGeom>
          <a:noFill/>
          <a:ln w="1651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85800" y="2331720"/>
            <a:ext cx="1143000" cy="914400"/>
          </a:xfrm>
          <a:prstGeom prst="rect">
            <a:avLst/>
          </a:prstGeom>
          <a:solidFill>
            <a:srgbClr val="1F2A44"/>
          </a:solidFill>
          <a:ln w="15240">
            <a:solidFill>
              <a:srgbClr val="22D3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8FAFC"/>
                </a:solidFill>
              </a:rPr>
              <a:t>1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8FAFC"/>
                </a:solidFill>
              </a:rPr>
              <a:t>Premo piano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2130552" y="2331720"/>
            <a:ext cx="1143000" cy="914400"/>
          </a:xfrm>
          <a:prstGeom prst="rect">
            <a:avLst/>
          </a:prstGeom>
          <a:solidFill>
            <a:srgbClr val="1F2A44"/>
          </a:solidFill>
          <a:ln w="15240">
            <a:solidFill>
              <a:srgbClr val="22D3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8FAFC"/>
                </a:solidFill>
              </a:rPr>
              <a:t>2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8FAFC"/>
                </a:solidFill>
              </a:rPr>
              <a:t>R_TRIG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3575304" y="2331720"/>
            <a:ext cx="1143000" cy="914400"/>
          </a:xfrm>
          <a:prstGeom prst="rect">
            <a:avLst/>
          </a:prstGeom>
          <a:solidFill>
            <a:srgbClr val="1F2A44"/>
          </a:solidFill>
          <a:ln w="15240">
            <a:solidFill>
              <a:srgbClr val="22D3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8FAFC"/>
                </a:solidFill>
              </a:rPr>
              <a:t>3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8FAFC"/>
                </a:solidFill>
              </a:rPr>
              <a:t>Memorizzo richiesta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5020056" y="2331720"/>
            <a:ext cx="1143000" cy="914400"/>
          </a:xfrm>
          <a:prstGeom prst="rect">
            <a:avLst/>
          </a:prstGeom>
          <a:solidFill>
            <a:srgbClr val="1F2A44"/>
          </a:solidFill>
          <a:ln w="15240">
            <a:solidFill>
              <a:srgbClr val="F8717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8FAFC"/>
                </a:solidFill>
              </a:rPr>
              <a:t>4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8FAFC"/>
                </a:solidFill>
              </a:rPr>
              <a:t>Controllo sicurezza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6464808" y="2331720"/>
            <a:ext cx="1143000" cy="914400"/>
          </a:xfrm>
          <a:prstGeom prst="rect">
            <a:avLst/>
          </a:prstGeom>
          <a:solidFill>
            <a:srgbClr val="1F2A44"/>
          </a:solidFill>
          <a:ln w="15240">
            <a:solidFill>
              <a:srgbClr val="22D3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8FAFC"/>
                </a:solidFill>
              </a:rPr>
              <a:t>5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8FAFC"/>
                </a:solidFill>
              </a:rPr>
              <a:t>Seleziono direzione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7909560" y="2331720"/>
            <a:ext cx="1143000" cy="914400"/>
          </a:xfrm>
          <a:prstGeom prst="rect">
            <a:avLst/>
          </a:prstGeom>
          <a:solidFill>
            <a:srgbClr val="1F2A44"/>
          </a:solidFill>
          <a:ln w="15240">
            <a:solidFill>
              <a:srgbClr val="22D3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8FAFC"/>
                </a:solidFill>
              </a:rPr>
              <a:t>6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8FAFC"/>
                </a:solidFill>
              </a:rPr>
              <a:t>Timer T_MOVE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9354312" y="2331720"/>
            <a:ext cx="1143000" cy="914400"/>
          </a:xfrm>
          <a:prstGeom prst="rect">
            <a:avLst/>
          </a:prstGeom>
          <a:solidFill>
            <a:srgbClr val="1F2A44"/>
          </a:solidFill>
          <a:ln w="15240">
            <a:solidFill>
              <a:srgbClr val="22D3E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8FAFC"/>
                </a:solidFill>
              </a:rPr>
              <a:t>7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F8FAFC"/>
                </a:solidFill>
              </a:rPr>
              <a:t>Arrivo + porte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777240" y="3840480"/>
            <a:ext cx="2880360" cy="2148840"/>
          </a:xfrm>
          <a:prstGeom prst="roundRect">
            <a:avLst>
              <a:gd name="adj" fmla="val 5106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1" name="Image 0" descr="/mnt/data/plc_assets/02_Movimento_Salita_crop.png">    </p:cNvPr>
          <p:cNvPicPr>
            <a:picLocks noChangeAspect="1"/>
          </p:cNvPicPr>
          <p:nvPr/>
        </p:nvPicPr>
        <p:blipFill>
          <a:blip r:embed="rId1"/>
          <a:srcRect l="0" r="0" t="12817" b="12817"/>
          <a:stretch/>
        </p:blipFill>
        <p:spPr>
          <a:xfrm>
            <a:off x="822960" y="3886200"/>
            <a:ext cx="2788920" cy="2057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22960" y="60167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Movimento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480560" y="3840480"/>
            <a:ext cx="2880360" cy="2148840"/>
          </a:xfrm>
          <a:prstGeom prst="roundRect">
            <a:avLst>
              <a:gd name="adj" fmla="val 5106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4" name="Image 1" descr="/mnt/data/plc_assets/03_Arrivo_Apertura_Porte_crop.png">    </p:cNvPr>
          <p:cNvPicPr>
            <a:picLocks noChangeAspect="1"/>
          </p:cNvPicPr>
          <p:nvPr/>
        </p:nvPicPr>
        <p:blipFill>
          <a:blip r:embed="rId2"/>
          <a:srcRect l="0" r="0" t="12817" b="12817"/>
          <a:stretch/>
        </p:blipFill>
        <p:spPr>
          <a:xfrm>
            <a:off x="4526280" y="3886200"/>
            <a:ext cx="2788920" cy="2057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526280" y="60167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Arrivo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183880" y="3840480"/>
            <a:ext cx="2880360" cy="2148840"/>
          </a:xfrm>
          <a:prstGeom prst="roundRect">
            <a:avLst>
              <a:gd name="adj" fmla="val 5106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7" name="Image 2" descr="/mnt/data/plc_assets/07_State_Machine_Movimento_crop.png">    </p:cNvPr>
          <p:cNvPicPr>
            <a:picLocks noChangeAspect="1"/>
          </p:cNvPicPr>
          <p:nvPr/>
        </p:nvPicPr>
        <p:blipFill>
          <a:blip r:embed="rId3"/>
          <a:srcRect l="0" r="0" t="6389" b="6389"/>
          <a:stretch/>
        </p:blipFill>
        <p:spPr>
          <a:xfrm>
            <a:off x="8229600" y="3886200"/>
            <a:ext cx="2788920" cy="20574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229600" y="601675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 ST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502920" y="64739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Progetto Ascensore PLC · Informatica Industriale ·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HMI di simulazione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Controllo e diagnosi del comportamento in tempo reale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1097280"/>
            <a:ext cx="3840480" cy="3794760"/>
          </a:xfrm>
          <a:prstGeom prst="roundRect">
            <a:avLst>
              <a:gd name="adj" fmla="val 2892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/mnt/data/plc_assets/01_HMI_Stato_Iniziale_crop.png">    </p:cNvPr>
          <p:cNvPicPr>
            <a:picLocks noChangeAspect="1"/>
          </p:cNvPicPr>
          <p:nvPr/>
        </p:nvPicPr>
        <p:blipFill>
          <a:blip r:embed="rId1"/>
          <a:srcRect l="0" r="0" t="211" b="211"/>
          <a:stretch/>
        </p:blipFill>
        <p:spPr>
          <a:xfrm>
            <a:off x="713232" y="1143000"/>
            <a:ext cx="3749040" cy="3703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49194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Stato iniziale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1097280"/>
            <a:ext cx="3749040" cy="3794760"/>
          </a:xfrm>
          <a:prstGeom prst="roundRect">
            <a:avLst>
              <a:gd name="adj" fmla="val 292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1" name="Image 1" descr="/mnt/data/plc_assets/02_Movimento_Salita_crop.png">    </p:cNvPr>
          <p:cNvPicPr>
            <a:picLocks noChangeAspect="1"/>
          </p:cNvPicPr>
          <p:nvPr/>
        </p:nvPicPr>
        <p:blipFill>
          <a:blip r:embed="rId2"/>
          <a:srcRect l="1012" r="1012" t="0" b="0"/>
          <a:stretch/>
        </p:blipFill>
        <p:spPr>
          <a:xfrm>
            <a:off x="4617720" y="1143000"/>
            <a:ext cx="3657600" cy="3703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4919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Movimento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8549640" y="1234440"/>
            <a:ext cx="2423160" cy="2148840"/>
          </a:xfrm>
          <a:prstGeom prst="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visualizzazione permette di testare tutte le condizioni senza PLC fisico: richieste piano, motore, porte, sovraccarico, emergenza e sensore porta.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549640" y="3703320"/>
            <a:ext cx="2423160" cy="1280160"/>
          </a:xfrm>
          <a:prstGeom prst="rect">
            <a:avLst/>
          </a:prstGeom>
          <a:solidFill>
            <a:srgbClr val="1F2A44"/>
          </a:solidFill>
          <a:ln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 di debug: il problema della schermata bianca era dovuto a coordinate Y negative e hitbox anomale nella HMI. Corrette posizione e dimensioni, la simulazione è tornata leggibile e interattiva.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02920" y="64739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Progetto Ascensore PLC · Informatica Industriale ·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Sicurezza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Interblocchi e arresto di emergenza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3977640" cy="3931920"/>
          </a:xfrm>
          <a:prstGeom prst="roundRect">
            <a:avLst>
              <a:gd name="adj" fmla="val 279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/mnt/data/plc_assets/04_Sicurezza_Sovraccarico_crop.png">    </p:cNvPr>
          <p:cNvPicPr>
            <a:picLocks noChangeAspect="1"/>
          </p:cNvPicPr>
          <p:nvPr/>
        </p:nvPicPr>
        <p:blipFill>
          <a:blip r:embed="rId1"/>
          <a:srcRect l="0" r="0" t="190" b="190"/>
          <a:stretch/>
        </p:blipFill>
        <p:spPr>
          <a:xfrm>
            <a:off x="685800" y="1143000"/>
            <a:ext cx="3886200" cy="3840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5056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Sovraccarico: movimento inibito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3977640" cy="3931920"/>
          </a:xfrm>
          <a:prstGeom prst="roundRect">
            <a:avLst>
              <a:gd name="adj" fmla="val 2791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1" name="Image 1" descr="/mnt/data/plc_assets/05_Arresto_Emergenza_crop.png">    </p:cNvPr>
          <p:cNvPicPr>
            <a:picLocks noChangeAspect="1"/>
          </p:cNvPicPr>
          <p:nvPr/>
        </p:nvPicPr>
        <p:blipFill>
          <a:blip r:embed="rId2"/>
          <a:srcRect l="0" r="0" t="190" b="190"/>
          <a:stretch/>
        </p:blipFill>
        <p:spPr>
          <a:xfrm>
            <a:off x="4800600" y="1143000"/>
            <a:ext cx="3886200" cy="3840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50566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Emergenza: motore disabilitato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9006840" y="1234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Condizioni principali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006840" y="1691640"/>
            <a:ext cx="2240280" cy="1691640"/>
          </a:xfrm>
          <a:prstGeom prst="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Overload blocca la partenza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PB_EMERGENCY forza SafetyStop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DoorClosedSensor deve essere TRUE</a:t>
            </a:r>
            <a:endParaRPr lang="en-US" sz="1370" dirty="0"/>
          </a:p>
          <a:p>
            <a:pPr algn="l" indent="0" marL="0">
              <a:buNone/>
            </a:pPr>
            <a:r>
              <a:rPr lang="en-US" sz="137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LED_ALARM segnala condizioni critiche</a:t>
            </a:r>
            <a:endParaRPr lang="en-US" sz="1370" dirty="0"/>
          </a:p>
        </p:txBody>
      </p:sp>
      <p:sp>
        <p:nvSpPr>
          <p:cNvPr id="15" name="Text 11"/>
          <p:cNvSpPr/>
          <p:nvPr/>
        </p:nvSpPr>
        <p:spPr>
          <a:xfrm>
            <a:off x="9006840" y="3840480"/>
            <a:ext cx="2240280" cy="64008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SafetyStop := PB_EMERGENCY OR Overload OR NOT DoorClosedSensor;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" y="64739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Progetto Ascensore PLC · Informatica Industriale ·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Codice e struttura CODESYS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Programma PLC, task ciclico e HMI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4983480" cy="4114800"/>
          </a:xfrm>
          <a:prstGeom prst="roundRect">
            <a:avLst>
              <a:gd name="adj" fmla="val 266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/mnt/data/plc_assets/06_State_Machine_ST_crop.png">    </p:cNvPr>
          <p:cNvPicPr>
            <a:picLocks noChangeAspect="1"/>
          </p:cNvPicPr>
          <p:nvPr/>
        </p:nvPicPr>
        <p:blipFill>
          <a:blip r:embed="rId1"/>
          <a:srcRect l="0" r="0" t="3107" b="3107"/>
          <a:stretch/>
        </p:blipFill>
        <p:spPr>
          <a:xfrm>
            <a:off x="685800" y="1325880"/>
            <a:ext cx="4892040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542239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Macchina a stati in PLC_PRG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43600" y="1280160"/>
            <a:ext cx="4754880" cy="4114800"/>
          </a:xfrm>
          <a:prstGeom prst="roundRect">
            <a:avLst>
              <a:gd name="adj" fmla="val 2667"/>
            </a:avLst>
          </a:prstGeom>
          <a:solidFill>
            <a:srgbClr val="172033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1" name="Image 1" descr="/mnt/data/plc_assets/08_Struttura_Progetto_CODESYS_crop.png">    </p:cNvPr>
          <p:cNvPicPr>
            <a:picLocks noChangeAspect="1"/>
          </p:cNvPicPr>
          <p:nvPr/>
        </p:nvPicPr>
        <p:blipFill>
          <a:blip r:embed="rId2"/>
          <a:srcRect l="4354" r="4354" t="0" b="0"/>
          <a:stretch/>
        </p:blipFill>
        <p:spPr>
          <a:xfrm>
            <a:off x="5989320" y="1325880"/>
            <a:ext cx="4663440" cy="4023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89320" y="54223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Struttura del progetto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005840" y="5760720"/>
            <a:ext cx="9326880" cy="457200"/>
          </a:xfrm>
          <a:prstGeom prst="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MainTask esegue ciclicamente PLC_PRG. La Visualization consente di comandare gli ingressi e osservare le uscite simulate.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Progetto Ascensore PLC · Informatica Industriale ·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47472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Conclusioni e consegna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8046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Repository GitHub e possibili sviluppi futuri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Risultato finale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3931920" cy="1143000"/>
          </a:xfrm>
          <a:prstGeom prst="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progetto implementa una simulazione completa di ascensore a 3 piani con logica PLC, macchina a stati, HMI, timer e controlli di sicurezza.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0" y="1627632"/>
            <a:ext cx="4206240" cy="2148840"/>
          </a:xfrm>
          <a:prstGeom prst="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Ascensore-PLC-CODESYS/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CODESYS/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Images/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Presentation/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.gitignore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Sviluppi futuri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4370832"/>
            <a:ext cx="3931920" cy="1325880"/>
          </a:xfrm>
          <a:prstGeom prst="rect">
            <a:avLst/>
          </a:prstGeom>
          <a:solidFill>
            <a:srgbClr val="172033"/>
          </a:solidFill>
          <a:ln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più piani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chiamate esterne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priorità in base alla direzione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stato testuale invece di codice numerico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gestione guasti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4343400"/>
            <a:ext cx="4206240" cy="777240"/>
          </a:xfrm>
          <a:prstGeom prst="rect">
            <a:avLst/>
          </a:prstGeom>
          <a:solidFill>
            <a:srgbClr val="1F2A44"/>
          </a:solidFill>
          <a:ln>
            <a:solidFill>
              <a:srgbClr val="F8717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Progetto didattico: le funzioni safety simulate non sostituiscono dispositivi certificati per applicazioni reali.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05800" y="5349240"/>
            <a:ext cx="267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r">
              <a:buNone/>
            </a:pPr>
            <a:r>
              <a:rPr sz="1600" b="1">
                <a:solidFill>
                  <a:srgbClr val="1A1A1A"/>
                </a:solidFill>
              </a:rPr>
              <a:t>Martiniello Davide</a:t>
            </a:r>
            <a:endParaRPr lang="en-US" sz="3400" dirty="0"/>
          </a:p>
          <a:p>
            <a:pPr algn="r"/>
            <a:r>
              <a:rPr sz="1400">
                <a:solidFill>
                  <a:srgbClr val="5A5A5A"/>
                </a:solidFill>
              </a:rPr>
              <a:t>Matricola 177680</a:t>
            </a:r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Progetto Ascensore PLC · Informatica Industriale ·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Informatica Industriale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Ascensore PLC</dc:title>
  <dc:subject>Progetto Ascensore PLC in CODESYS</dc:subject>
  <dc:creator>Davide Martiniello</dc:creator>
  <cp:lastModifiedBy>Davide Martiniello</cp:lastModifiedBy>
  <cp:revision>1</cp:revision>
  <dcterms:created xsi:type="dcterms:W3CDTF">2026-09-12T15:22:47Z</dcterms:created>
  <dcterms:modified xsi:type="dcterms:W3CDTF">2026-09-12T15:22:47Z</dcterms:modified>
</cp:coreProperties>
</file>